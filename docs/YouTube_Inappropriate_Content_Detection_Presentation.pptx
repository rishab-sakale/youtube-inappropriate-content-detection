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7" r:id="rId5"/>
    <p:sldId id="258" r:id="rId6"/>
    <p:sldId id="259" r:id="rId7"/>
    <p:sldId id="260" r:id="rId8"/>
    <p:sldId id="261" r:id="rId9"/>
    <p:sldId id="263" r:id="rId10"/>
    <p:sldId id="266" r:id="rId11"/>
    <p:sldId id="268" r:id="rId12"/>
    <p:sldId id="269" r:id="rId13"/>
    <p:sldId id="270" r:id="rId14"/>
    <p:sldId id="271" r:id="rId15"/>
    <p:sldId id="272" r:id="rId16"/>
    <p:sldId id="283" r:id="rId17"/>
    <p:sldId id="282" r:id="rId18"/>
    <p:sldId id="273" r:id="rId19"/>
    <p:sldId id="274" r:id="rId20"/>
    <p:sldId id="275" r:id="rId21"/>
    <p:sldId id="276" r:id="rId22"/>
    <p:sldId id="277" r:id="rId23"/>
    <p:sldId id="279" r:id="rId24"/>
    <p:sldId id="278"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33F8D677-E550-4568-A633-34516E5822C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33F8D677-E550-4568-A633-34516E5822C1}"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3F8D677-E550-4568-A633-34516E5822C1}"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F8D677-E550-4568-A633-34516E5822C1}"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3F8D677-E550-4568-A633-34516E5822C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3F8D677-E550-4568-A633-34516E5822C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33F8D677-E550-4568-A633-34516E5822C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33F8D677-E550-4568-A633-34516E5822C1}"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3F8D677-E550-4568-A633-34516E5822C1}"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F8D677-E550-4568-A633-34516E5822C1}"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3F8D677-E550-4568-A633-34516E5822C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3F8D677-E550-4568-A633-34516E5822C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3F8D677-E550-4568-A633-34516E5822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6D20D0-40BC-4C4C-B629-21C401CA03D5}"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F8D677-E550-4568-A633-34516E5822C1}"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6D20D0-40BC-4C4C-B629-21C401CA03D5}"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F8D677-E550-4568-A633-34516E5822C1}"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6D20D0-40BC-4C4C-B629-21C401CA03D5}"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9391" y="2164644"/>
            <a:ext cx="10460862" cy="2087760"/>
          </a:xfrm>
        </p:spPr>
        <p:txBody>
          <a:bodyPr>
            <a:normAutofit fontScale="47500" lnSpcReduction="20000"/>
          </a:bodyPr>
          <a:lstStyle/>
          <a:p>
            <a:pPr algn="ctr"/>
            <a:r>
              <a:rPr lang="en-US" sz="5900" b="1" i="1" dirty="0">
                <a:solidFill>
                  <a:schemeClr val="accent2">
                    <a:lumMod val="50000"/>
                  </a:schemeClr>
                </a:solidFill>
                <a:latin typeface="Times New Roman" panose="02020603050405020304" pitchFamily="18" charset="0"/>
                <a:cs typeface="Times New Roman" panose="02020603050405020304" pitchFamily="18" charset="0"/>
              </a:rPr>
              <a:t>A Major Project on</a:t>
            </a:r>
            <a:endParaRPr lang="en-US" sz="5900" b="1" i="1" dirty="0">
              <a:solidFill>
                <a:schemeClr val="accent2">
                  <a:lumMod val="50000"/>
                </a:schemeClr>
              </a:solidFill>
              <a:latin typeface="Times New Roman" panose="02020603050405020304" pitchFamily="18" charset="0"/>
              <a:cs typeface="Times New Roman" panose="02020603050405020304" pitchFamily="18" charset="0"/>
            </a:endParaRPr>
          </a:p>
          <a:p>
            <a:pPr>
              <a:lnSpc>
                <a:spcPct val="150000"/>
              </a:lnSpc>
            </a:pPr>
            <a:r>
              <a:rPr lang="en-US" sz="5900" b="1" i="0" u="none" strike="noStrike" baseline="0" dirty="0">
                <a:solidFill>
                  <a:schemeClr val="accent6">
                    <a:lumMod val="50000"/>
                  </a:schemeClr>
                </a:solidFill>
                <a:latin typeface="Times New Roman" panose="02020603050405020304" pitchFamily="18" charset="0"/>
              </a:rPr>
              <a:t>A Deep Learning-Based Approach for Inappropriate Content Detection and Classification of YouTube Videos</a:t>
            </a:r>
            <a:endParaRPr lang="en-US" sz="5900" dirty="0">
              <a:solidFill>
                <a:schemeClr val="accent6">
                  <a:lumMod val="50000"/>
                </a:schemeClr>
              </a:solidFill>
              <a:latin typeface="Times New Roman" panose="02020603050405020304" pitchFamily="18" charset="0"/>
              <a:cs typeface="Times New Roman" panose="02020603050405020304" pitchFamily="18" charset="0"/>
            </a:endParaRPr>
          </a:p>
          <a:p>
            <a:pPr algn="ctr"/>
            <a:br>
              <a:rPr lang="en-IN" sz="2400" b="1" dirty="0">
                <a:effectLst/>
                <a:latin typeface="Times New Roman" panose="02020603050405020304" pitchFamily="18" charset="0"/>
                <a:cs typeface="Times New Roman" panose="02020603050405020304" pitchFamily="18" charset="0"/>
              </a:rPr>
            </a:br>
            <a:endParaRPr lang="en-IN" sz="2400" b="1" dirty="0"/>
          </a:p>
          <a:p>
            <a:endParaRPr lang="en-IN" dirty="0"/>
          </a:p>
        </p:txBody>
      </p:sp>
      <p:sp>
        <p:nvSpPr>
          <p:cNvPr id="5" name="TextBox 4"/>
          <p:cNvSpPr txBox="1"/>
          <p:nvPr/>
        </p:nvSpPr>
        <p:spPr>
          <a:xfrm>
            <a:off x="1480" y="6530913"/>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878" y="8878"/>
            <a:ext cx="12191999" cy="1855470"/>
          </a:xfrm>
          <a:prstGeom prst="rect">
            <a:avLst/>
          </a:prstGeom>
        </p:spPr>
      </p:pic>
      <p:sp>
        <p:nvSpPr>
          <p:cNvPr id="7" name="TextBox 6"/>
          <p:cNvSpPr txBox="1"/>
          <p:nvPr/>
        </p:nvSpPr>
        <p:spPr>
          <a:xfrm>
            <a:off x="6591303" y="3961019"/>
            <a:ext cx="6094520" cy="3556743"/>
          </a:xfrm>
          <a:prstGeom prst="rect">
            <a:avLst/>
          </a:prstGeom>
          <a:noFill/>
        </p:spPr>
        <p:txBody>
          <a:bodyPr wrap="square">
            <a:spAutoFit/>
          </a:bodyPr>
          <a:lstStyle/>
          <a:p>
            <a:pPr eaLnBrk="1" fontAlgn="auto" hangingPunct="1">
              <a:spcAft>
                <a:spcPts val="0"/>
              </a:spcAft>
              <a:buFont typeface="Wingdings 2"/>
              <a:buNone/>
              <a:defRPr/>
            </a:pPr>
            <a:r>
              <a:rPr lang="en-US" sz="2400" b="1" i="1" cap="none" dirty="0">
                <a:solidFill>
                  <a:schemeClr val="accent2">
                    <a:lumMod val="50000"/>
                  </a:schemeClr>
                </a:solidFill>
                <a:latin typeface="Times New Roman" panose="02020603050405020304" pitchFamily="18" charset="0"/>
                <a:cs typeface="Times New Roman" panose="02020603050405020304" pitchFamily="18" charset="0"/>
              </a:rPr>
              <a:t>Presented By </a:t>
            </a:r>
            <a:endParaRPr lang="en-US" sz="2400" b="1" i="1" cap="none" dirty="0">
              <a:solidFill>
                <a:schemeClr val="accent2">
                  <a:lumMod val="50000"/>
                </a:schemeClr>
              </a:solidFill>
              <a:latin typeface="Times New Roman" panose="02020603050405020304" pitchFamily="18" charset="0"/>
              <a:cs typeface="Times New Roman" panose="02020603050405020304" pitchFamily="18" charset="0"/>
            </a:endParaRPr>
          </a:p>
          <a:p>
            <a:pPr algn="just" eaLnBrk="1" fontAlgn="auto" hangingPunct="1">
              <a:lnSpc>
                <a:spcPct val="150000"/>
              </a:lnSpc>
              <a:spcAft>
                <a:spcPts val="0"/>
              </a:spcAft>
              <a:buFont typeface="Wingdings 2"/>
              <a:buNone/>
              <a:defRPr/>
            </a:pPr>
            <a:r>
              <a:rPr lang="en-US" sz="2200" dirty="0">
                <a:solidFill>
                  <a:schemeClr val="bg2">
                    <a:lumMod val="25000"/>
                  </a:schemeClr>
                </a:solidFill>
                <a:latin typeface="Times New Roman" panose="02020603050405020304" pitchFamily="18" charset="0"/>
                <a:cs typeface="Times New Roman" panose="02020603050405020304" pitchFamily="18" charset="0"/>
              </a:rPr>
              <a:t>RISHAB SAKALE                  21S11A0432</a:t>
            </a:r>
            <a:endParaRPr lang="en-US" sz="2200" dirty="0">
              <a:solidFill>
                <a:schemeClr val="bg2">
                  <a:lumMod val="25000"/>
                </a:schemeClr>
              </a:solidFill>
              <a:latin typeface="Times New Roman" panose="02020603050405020304" pitchFamily="18" charset="0"/>
              <a:cs typeface="Times New Roman" panose="02020603050405020304" pitchFamily="18" charset="0"/>
            </a:endParaRPr>
          </a:p>
          <a:p>
            <a:pPr algn="just">
              <a:lnSpc>
                <a:spcPct val="150000"/>
              </a:lnSpc>
              <a:defRPr/>
            </a:pPr>
            <a:r>
              <a:rPr lang="en-US" sz="2200" dirty="0">
                <a:solidFill>
                  <a:schemeClr val="bg2">
                    <a:lumMod val="25000"/>
                  </a:schemeClr>
                </a:solidFill>
                <a:latin typeface="Times New Roman" panose="02020603050405020304" pitchFamily="18" charset="0"/>
                <a:cs typeface="Times New Roman" panose="02020603050405020304" pitchFamily="18" charset="0"/>
              </a:rPr>
              <a:t>BASHETTY HASINI              21S11A0416</a:t>
            </a:r>
            <a:endParaRPr lang="en-US" sz="2200" dirty="0">
              <a:solidFill>
                <a:schemeClr val="bg2">
                  <a:lumMod val="25000"/>
                </a:schemeClr>
              </a:solidFill>
              <a:latin typeface="Times New Roman" panose="02020603050405020304" pitchFamily="18" charset="0"/>
              <a:cs typeface="Times New Roman" panose="02020603050405020304" pitchFamily="18" charset="0"/>
            </a:endParaRPr>
          </a:p>
          <a:p>
            <a:pPr algn="just">
              <a:lnSpc>
                <a:spcPct val="150000"/>
              </a:lnSpc>
              <a:defRPr/>
            </a:pPr>
            <a:r>
              <a:rPr lang="en-US" sz="2200" dirty="0">
                <a:solidFill>
                  <a:schemeClr val="bg2">
                    <a:lumMod val="25000"/>
                  </a:schemeClr>
                </a:solidFill>
                <a:latin typeface="Times New Roman" panose="02020603050405020304" pitchFamily="18" charset="0"/>
                <a:cs typeface="Times New Roman" panose="02020603050405020304" pitchFamily="18" charset="0"/>
              </a:rPr>
              <a:t>BASHETTY AKASH              21S11A0402</a:t>
            </a:r>
            <a:endParaRPr lang="en-US" sz="2200" dirty="0">
              <a:solidFill>
                <a:schemeClr val="bg2">
                  <a:lumMod val="25000"/>
                </a:schemeClr>
              </a:solidFill>
              <a:latin typeface="Times New Roman" panose="02020603050405020304" pitchFamily="18" charset="0"/>
              <a:cs typeface="Times New Roman" panose="02020603050405020304" pitchFamily="18" charset="0"/>
            </a:endParaRPr>
          </a:p>
          <a:p>
            <a:pPr algn="just">
              <a:lnSpc>
                <a:spcPct val="150000"/>
              </a:lnSpc>
              <a:defRPr/>
            </a:pPr>
            <a:r>
              <a:rPr lang="en-US" sz="2200" dirty="0">
                <a:solidFill>
                  <a:schemeClr val="bg2">
                    <a:lumMod val="25000"/>
                  </a:schemeClr>
                </a:solidFill>
                <a:latin typeface="Times New Roman" panose="02020603050405020304" pitchFamily="18" charset="0"/>
                <a:cs typeface="Times New Roman" panose="02020603050405020304" pitchFamily="18" charset="0"/>
              </a:rPr>
              <a:t>KAMMARI ANJANEYULU  21S11A0404</a:t>
            </a:r>
            <a:endParaRPr lang="en-US" sz="2200" dirty="0">
              <a:solidFill>
                <a:schemeClr val="bg2">
                  <a:lumMod val="25000"/>
                </a:schemeClr>
              </a:solidFill>
              <a:latin typeface="Times New Roman" panose="02020603050405020304" pitchFamily="18" charset="0"/>
              <a:cs typeface="Times New Roman" panose="02020603050405020304" pitchFamily="18" charset="0"/>
            </a:endParaRPr>
          </a:p>
          <a:p>
            <a:pPr algn="just" eaLnBrk="1" fontAlgn="auto" hangingPunct="1">
              <a:lnSpc>
                <a:spcPct val="150000"/>
              </a:lnSpc>
              <a:spcAft>
                <a:spcPts val="0"/>
              </a:spcAft>
              <a:buFont typeface="Wingdings 2"/>
              <a:buNone/>
              <a:defRPr/>
            </a:pPr>
            <a:endParaRPr lang="en-US" sz="1600" dirty="0">
              <a:solidFill>
                <a:schemeClr val="bg2">
                  <a:lumMod val="25000"/>
                </a:schemeClr>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2">
                    <a:lumMod val="25000"/>
                  </a:schemeClr>
                </a:solidFill>
                <a:latin typeface="Times New Roman" panose="02020603050405020304" pitchFamily="18" charset="0"/>
                <a:cs typeface="Times New Roman" panose="02020603050405020304" pitchFamily="18" charset="0"/>
              </a:rPr>
              <a:t>	</a:t>
            </a:r>
            <a:endParaRPr lang="en-US" sz="1600" dirty="0">
              <a:solidFill>
                <a:schemeClr val="bg2">
                  <a:lumMod val="25000"/>
                </a:schemeClr>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2">
                    <a:lumMod val="25000"/>
                  </a:schemeClr>
                </a:solidFill>
                <a:latin typeface="Times New Roman" panose="02020603050405020304" pitchFamily="18" charset="0"/>
                <a:cs typeface="Times New Roman" panose="02020603050405020304" pitchFamily="18" charset="0"/>
              </a:rPr>
              <a:t>			</a:t>
            </a:r>
            <a:endParaRPr lang="en-US" sz="16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8878" y="3955608"/>
            <a:ext cx="5287878" cy="1661993"/>
          </a:xfrm>
          <a:prstGeom prst="rect">
            <a:avLst/>
          </a:prstGeom>
          <a:noFill/>
        </p:spPr>
        <p:txBody>
          <a:bodyPr wrap="square">
            <a:spAutoFit/>
          </a:bodyPr>
          <a:lstStyle/>
          <a:p>
            <a:pPr algn="ctr" eaLnBrk="1" fontAlgn="auto" hangingPunct="1">
              <a:lnSpc>
                <a:spcPct val="150000"/>
              </a:lnSpc>
              <a:spcAft>
                <a:spcPts val="0"/>
              </a:spcAft>
              <a:buFont typeface="Wingdings 2"/>
              <a:buNone/>
              <a:defRPr/>
            </a:pPr>
            <a:r>
              <a:rPr lang="en-US" sz="2400" b="1" i="1" cap="none" dirty="0">
                <a:solidFill>
                  <a:schemeClr val="accent2">
                    <a:lumMod val="50000"/>
                  </a:schemeClr>
                </a:solidFill>
                <a:latin typeface="Times New Roman" panose="02020603050405020304" pitchFamily="18" charset="0"/>
                <a:cs typeface="Times New Roman" panose="02020603050405020304" pitchFamily="18" charset="0"/>
              </a:rPr>
              <a:t>Under the Guidance of</a:t>
            </a:r>
            <a:endParaRPr lang="en-US" sz="2400" b="1" i="1" cap="none" dirty="0">
              <a:solidFill>
                <a:schemeClr val="accent2">
                  <a:lumMod val="50000"/>
                </a:schemeClr>
              </a:solidFill>
              <a:latin typeface="Times New Roman" panose="02020603050405020304" pitchFamily="18" charset="0"/>
              <a:cs typeface="Times New Roman" panose="02020603050405020304" pitchFamily="18" charset="0"/>
            </a:endParaRPr>
          </a:p>
          <a:p>
            <a:pPr algn="ctr">
              <a:defRPr/>
            </a:pPr>
            <a:r>
              <a:rPr lang="en-US" sz="2200" dirty="0">
                <a:latin typeface="Times New Roman" panose="02020603050405020304" pitchFamily="18" charset="0"/>
                <a:cs typeface="Times New Roman" panose="02020603050405020304" pitchFamily="18" charset="0"/>
              </a:rPr>
              <a:t>Mr. T. PAVAN VINAYAK</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Assistant Professor</a:t>
            </a:r>
            <a:endParaRPr lang="en-US" sz="2200" dirty="0">
              <a:latin typeface="Times New Roman" panose="02020603050405020304" pitchFamily="18" charset="0"/>
              <a:cs typeface="Times New Roman" panose="02020603050405020304" pitchFamily="18" charset="0"/>
            </a:endParaRPr>
          </a:p>
          <a:p>
            <a:pPr algn="ctr" eaLnBrk="1" fontAlgn="auto" hangingPunct="1">
              <a:spcAft>
                <a:spcPts val="0"/>
              </a:spcAft>
              <a:buFont typeface="Wingdings 2"/>
              <a:buNone/>
              <a:defRPr/>
            </a:pPr>
            <a:r>
              <a:rPr lang="en-US" sz="2200" dirty="0">
                <a:latin typeface="Times New Roman" panose="02020603050405020304" pitchFamily="18" charset="0"/>
                <a:cs typeface="Times New Roman" panose="02020603050405020304" pitchFamily="18" charset="0"/>
              </a:rPr>
              <a:t>B .Tech , M .Tech</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136" y="585927"/>
            <a:ext cx="6414856" cy="967666"/>
          </a:xfrm>
        </p:spPr>
        <p:txBody>
          <a:bodyPr>
            <a:noAutofit/>
          </a:bodyPr>
          <a:lstStyle/>
          <a:p>
            <a:r>
              <a:rPr lang="en-US" sz="3600" b="1" dirty="0">
                <a:latin typeface="Times New Roman" panose="02020603050405020304" pitchFamily="18" charset="0"/>
                <a:cs typeface="Times New Roman" panose="02020603050405020304" pitchFamily="18" charset="0"/>
              </a:rPr>
              <a:t>CONTENTS</a:t>
            </a:r>
            <a:br>
              <a:rPr lang="en-IN" sz="3600" dirty="0"/>
            </a:br>
            <a:endParaRPr lang="en-IN" sz="3600" dirty="0"/>
          </a:p>
        </p:txBody>
      </p:sp>
      <p:sp>
        <p:nvSpPr>
          <p:cNvPr id="3" name="Content Placeholder 2"/>
          <p:cNvSpPr>
            <a:spLocks noGrp="1"/>
          </p:cNvSpPr>
          <p:nvPr>
            <p:ph idx="1"/>
          </p:nvPr>
        </p:nvSpPr>
        <p:spPr>
          <a:xfrm>
            <a:off x="625136" y="1253331"/>
            <a:ext cx="10515600" cy="4351338"/>
          </a:xfrm>
        </p:spPr>
        <p:txBody>
          <a:bodyPr>
            <a:noAutofit/>
          </a:bodyPr>
          <a:lstStyle/>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ABSTRACT</a:t>
            </a:r>
            <a:endParaRPr lang="en-US" sz="2200" dirty="0">
              <a:solidFill>
                <a:schemeClr val="tx1"/>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TOOLS REQUIRED</a:t>
            </a:r>
            <a:endParaRPr lang="en-US" sz="2200" dirty="0">
              <a:solidFill>
                <a:schemeClr val="tx1"/>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EXSISTING METHOD</a:t>
            </a:r>
            <a:endParaRPr lang="en-US" sz="2200" dirty="0">
              <a:solidFill>
                <a:schemeClr val="tx1"/>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PROPOSED METHOD</a:t>
            </a:r>
            <a:endParaRPr lang="en-US" sz="2200" dirty="0">
              <a:solidFill>
                <a:schemeClr val="tx1"/>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a:t>
            </a:r>
            <a:endParaRPr lang="en-US" sz="2200" dirty="0">
              <a:solidFill>
                <a:schemeClr val="tx1"/>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ADVANTAGES </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APPLICATIONS</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FUTURESCOPE AND CONCLUSION</a:t>
            </a:r>
            <a:endParaRPr lang="en-US" sz="2200" dirty="0">
              <a:solidFill>
                <a:schemeClr val="tx1"/>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endParaRPr lang="en-IN" sz="2200" dirty="0">
              <a:latin typeface="Times New Roman" panose="02020603050405020304" pitchFamily="18" charset="0"/>
              <a:cs typeface="Times New Roman" panose="02020603050405020304" pitchFamily="18" charset="0"/>
            </a:endParaRPr>
          </a:p>
          <a:p>
            <a:endParaRPr lang="en-IN" sz="2200" dirty="0"/>
          </a:p>
        </p:txBody>
      </p:sp>
      <p:sp>
        <p:nvSpPr>
          <p:cNvPr id="5" name="TextBox 4"/>
          <p:cNvSpPr txBox="1"/>
          <p:nvPr/>
        </p:nvSpPr>
        <p:spPr>
          <a:xfrm>
            <a:off x="1480" y="6468515"/>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pic>
        <p:nvPicPr>
          <p:cNvPr id="7" name="Picture 6" descr="Content.jpeg"/>
          <p:cNvPicPr>
            <a:picLocks noChangeAspect="1"/>
          </p:cNvPicPr>
          <p:nvPr/>
        </p:nvPicPr>
        <p:blipFill>
          <a:blip r:embed="rId2"/>
          <a:stretch>
            <a:fillRect/>
          </a:stretch>
        </p:blipFill>
        <p:spPr>
          <a:xfrm>
            <a:off x="5608359" y="1255060"/>
            <a:ext cx="5361676" cy="35679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828" y="18256"/>
            <a:ext cx="10515600" cy="709714"/>
          </a:xfrm>
        </p:spPr>
        <p:txBody>
          <a:bodyPr>
            <a:normAutofit/>
          </a:bodyPr>
          <a:lstStyle/>
          <a:p>
            <a:r>
              <a:rPr lang="en-US" sz="3600" b="1" dirty="0">
                <a:latin typeface="Times New Roman" panose="02020603050405020304" pitchFamily="18" charset="0"/>
                <a:cs typeface="Times New Roman" panose="02020603050405020304" pitchFamily="18" charset="0"/>
              </a:rPr>
              <a:t>ABSTRACT</a:t>
            </a:r>
            <a:endParaRPr lang="en-IN" sz="3600" dirty="0"/>
          </a:p>
        </p:txBody>
      </p:sp>
      <p:sp>
        <p:nvSpPr>
          <p:cNvPr id="5" name="TextBox 4"/>
          <p:cNvSpPr txBox="1"/>
          <p:nvPr/>
        </p:nvSpPr>
        <p:spPr>
          <a:xfrm>
            <a:off x="1480"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
        <p:nvSpPr>
          <p:cNvPr id="4" name="Rectangle 1"/>
          <p:cNvSpPr>
            <a:spLocks noGrp="1" noChangeArrowheads="1"/>
          </p:cNvSpPr>
          <p:nvPr>
            <p:ph idx="1"/>
          </p:nvPr>
        </p:nvSpPr>
        <p:spPr bwMode="auto">
          <a:xfrm>
            <a:off x="792099" y="874070"/>
            <a:ext cx="10335828" cy="510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YouTube has a large number of viewers, including children, as it provides entertainment on various topics like sports, religion, and movies.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young viewers watch cartoons, but some users misuse this by uploading unsuitable content disguised as cartoons.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Such content can have a negative effect on children, so a method is needed to detect and block it before they see it.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people take advantage of the platform by sharing disturbing animated videos meant for kids.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introduces a deep learning model that accurately finds and classifies inappropriate material in videos with 99.04% accuracy.</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258" y="294104"/>
            <a:ext cx="10515600" cy="753461"/>
          </a:xfrm>
        </p:spPr>
        <p:txBody>
          <a:bodyPr>
            <a:normAutofit/>
          </a:bodyPr>
          <a:lstStyle/>
          <a:p>
            <a:r>
              <a:rPr lang="en-US" sz="3600" b="1" dirty="0">
                <a:latin typeface="Times New Roman" panose="02020603050405020304" pitchFamily="18" charset="0"/>
                <a:cs typeface="Times New Roman" panose="02020603050405020304" pitchFamily="18" charset="0"/>
              </a:rPr>
              <a:t>INTRODUCTION</a:t>
            </a:r>
            <a:endParaRPr lang="en-IN" sz="3600" dirty="0"/>
          </a:p>
        </p:txBody>
      </p:sp>
      <p:sp>
        <p:nvSpPr>
          <p:cNvPr id="3" name="Content Placeholder 2"/>
          <p:cNvSpPr>
            <a:spLocks noGrp="1"/>
          </p:cNvSpPr>
          <p:nvPr>
            <p:ph idx="1"/>
          </p:nvPr>
        </p:nvSpPr>
        <p:spPr>
          <a:xfrm>
            <a:off x="616258" y="899178"/>
            <a:ext cx="10515600" cy="4021585"/>
          </a:xfrm>
        </p:spPr>
        <p:txBody>
          <a:bodyPr>
            <a:noAutofit/>
          </a:bodyPr>
          <a:lstStyle/>
          <a:p>
            <a:pPr algn="just">
              <a:lnSpc>
                <a:spcPct val="15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Over the past few years, social media platforms have seen a significant increase in both the production and consumption of films.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Using social media different organizations or people can exchange the information in the format of text, videos, images etc. social medias like LinkedIn, Facebook and videos uploaded information from different users.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Day by day the content is increasing and handling such huge content is going difficult as some people are uploading abusing or insulting content.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Among many social media plat forms YouTube has a greater number of users. waste content should be removed or given some restrictions to maintain company integrity.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pPr>
            <a:endParaRPr lang="en-IN" sz="2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1379"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Download standard dataset with safe and inappropriate content </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Main objective of the project is to predict </a:t>
            </a:r>
            <a:r>
              <a:rPr lang="en-US" sz="2200" dirty="0" err="1">
                <a:latin typeface="Times New Roman" panose="02020603050405020304" pitchFamily="18" charset="0"/>
                <a:cs typeface="Times New Roman" panose="02020603050405020304" pitchFamily="18" charset="0"/>
              </a:rPr>
              <a:t>youtube</a:t>
            </a:r>
            <a:r>
              <a:rPr lang="en-US" sz="2200" dirty="0">
                <a:latin typeface="Times New Roman" panose="02020603050405020304" pitchFamily="18" charset="0"/>
                <a:cs typeface="Times New Roman" panose="02020603050405020304" pitchFamily="18" charset="0"/>
              </a:rPr>
              <a:t> videos content is safe or inappropriate </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 this project we introduced Bi-LSTM ,</a:t>
            </a:r>
            <a:r>
              <a:rPr lang="en-US" sz="2200" dirty="0" err="1">
                <a:latin typeface="Times New Roman" panose="02020603050405020304" pitchFamily="18" charset="0"/>
                <a:cs typeface="Times New Roman" panose="02020603050405020304" pitchFamily="18" charset="0"/>
              </a:rPr>
              <a:t>EfficientNet</a:t>
            </a:r>
            <a:r>
              <a:rPr lang="en-US" sz="2200" dirty="0">
                <a:latin typeface="Times New Roman" panose="02020603050405020304" pitchFamily="18" charset="0"/>
                <a:cs typeface="Times New Roman" panose="02020603050405020304" pitchFamily="18" charset="0"/>
              </a:rPr>
              <a:t>-SVM which are deep learning techniques</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Performance metrics calculation for above algorithms </a:t>
            </a:r>
            <a:endParaRPr lang="en-US" sz="2200" dirty="0">
              <a:latin typeface="Times New Roman" panose="02020603050405020304" pitchFamily="18" charset="0"/>
              <a:cs typeface="Times New Roman" panose="02020603050405020304" pitchFamily="18" charset="0"/>
            </a:endParaRPr>
          </a:p>
          <a:p>
            <a:pPr>
              <a:lnSpc>
                <a:spcPct val="100000"/>
              </a:lnSpc>
            </a:pPr>
            <a:endParaRPr lang="en-IN" sz="2200" dirty="0"/>
          </a:p>
        </p:txBody>
      </p:sp>
      <p:sp>
        <p:nvSpPr>
          <p:cNvPr id="5" name="TextBox 4"/>
          <p:cNvSpPr txBox="1"/>
          <p:nvPr/>
        </p:nvSpPr>
        <p:spPr>
          <a:xfrm>
            <a:off x="73240"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228600">
              <a:lnSpc>
                <a:spcPct val="150000"/>
              </a:lnSpc>
              <a:spcAft>
                <a:spcPts val="800"/>
              </a:spcAft>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p>
        </p:txBody>
      </p:sp>
      <p:sp>
        <p:nvSpPr>
          <p:cNvPr id="3" name="Content Placeholder 2"/>
          <p:cNvSpPr>
            <a:spLocks noGrp="1"/>
          </p:cNvSpPr>
          <p:nvPr>
            <p:ph idx="1"/>
          </p:nvPr>
        </p:nvSpPr>
        <p:spPr>
          <a:xfrm>
            <a:off x="580748" y="1690688"/>
            <a:ext cx="4435136" cy="4351338"/>
          </a:xfrm>
        </p:spPr>
        <p:txBody>
          <a:bodyPr>
            <a:normAutofit/>
          </a:bodyPr>
          <a:lstStyle/>
          <a:p>
            <a:pPr marL="0" indent="0">
              <a:lnSpc>
                <a:spcPct val="150000"/>
              </a:lnSpc>
              <a:spcAft>
                <a:spcPts val="800"/>
              </a:spcAft>
              <a:buNone/>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Hardware Requirement:</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Processor Type: Pentium</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RAM: 512 MB RAM</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Hard disk: 20 GB</a:t>
            </a:r>
            <a:endParaRPr lang="en-IN" sz="22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Display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p:cNvSpPr txBox="1"/>
          <p:nvPr/>
        </p:nvSpPr>
        <p:spPr>
          <a:xfrm>
            <a:off x="5976890" y="1600368"/>
            <a:ext cx="6087864" cy="3567772"/>
          </a:xfrm>
          <a:prstGeom prst="rect">
            <a:avLst/>
          </a:prstGeom>
          <a:noFill/>
        </p:spPr>
        <p:txBody>
          <a:bodyPr wrap="square">
            <a:spAutoFit/>
          </a:bodyPr>
          <a:lstStyle/>
          <a:p>
            <a:pPr>
              <a:lnSpc>
                <a:spcPct val="200000"/>
              </a:lnSpc>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Software Requirement:</a:t>
            </a:r>
            <a:endParaRPr lang="en-IN" sz="2800" b="1"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200000"/>
              </a:lnSpc>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10/11</a:t>
            </a:r>
            <a:endParaRPr lang="en-IN" sz="22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200000"/>
              </a:lnSpc>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Script: python 3.7.0</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200000"/>
              </a:lnSpc>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GUI using </a:t>
            </a:r>
            <a:r>
              <a:rPr lang="en-IN" sz="2200" dirty="0" err="1">
                <a:effectLst/>
                <a:latin typeface="Times New Roman" panose="02020603050405020304" pitchFamily="18" charset="0"/>
                <a:ea typeface="Calibri" panose="020F0502020204030204" pitchFamily="34" charset="0"/>
                <a:cs typeface="Times New Roman" panose="02020603050405020304" pitchFamily="18" charset="0"/>
              </a:rPr>
              <a:t>Tkinter</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a:t>
            </a:r>
            <a:br>
              <a:rPr lang="en-IN" sz="2200" dirty="0">
                <a:effectLst/>
                <a:latin typeface="Calibri" panose="020F0502020204030204" pitchFamily="34" charset="0"/>
                <a:ea typeface="Calibri" panose="020F0502020204030204" pitchFamily="34" charset="0"/>
                <a:cs typeface="Times New Roman" panose="02020603050405020304" pitchFamily="18" charset="0"/>
              </a:rPr>
            </a:br>
            <a:endParaRPr lang="en-IN" sz="2200" dirty="0"/>
          </a:p>
        </p:txBody>
      </p:sp>
      <p:sp>
        <p:nvSpPr>
          <p:cNvPr id="7" name="TextBox 6"/>
          <p:cNvSpPr txBox="1"/>
          <p:nvPr/>
        </p:nvSpPr>
        <p:spPr>
          <a:xfrm>
            <a:off x="454981" y="659581"/>
            <a:ext cx="7907784" cy="646331"/>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TOOLS REQUIRED</a:t>
            </a:r>
            <a:endParaRPr kumimoji="0" lang="en-US" sz="3600" i="0" u="none" strike="noStrike" kern="1200" cap="none" spc="-100" normalizeH="0" baseline="0" noProof="0" dirty="0">
              <a:ln w="3200">
                <a:solidFill>
                  <a:schemeClr val="bg2">
                    <a:shade val="75000"/>
                    <a:alpha val="25000"/>
                  </a:schemeClr>
                </a:solidFill>
                <a:prstDash val="solid"/>
                <a:round/>
              </a:ln>
              <a:solidFill>
                <a:schemeClr val="bg1">
                  <a:lumMod val="95000"/>
                  <a:lumOff val="5000"/>
                </a:schemeClr>
              </a:solidFill>
              <a:effectLst>
                <a:innerShdw blurRad="50800" dist="25400" dir="13500000">
                  <a:prstClr val="black">
                    <a:alpha val="70000"/>
                  </a:prstClr>
                </a:innerShdw>
              </a:effectLst>
              <a:uLnTx/>
              <a:uFillTx/>
              <a:latin typeface="Times New Roman" panose="02020603050405020304" pitchFamily="18" charset="0"/>
              <a:ea typeface="+mj-ea"/>
              <a:cs typeface="Times New Roman" panose="02020603050405020304" pitchFamily="18" charset="0"/>
            </a:endParaRPr>
          </a:p>
        </p:txBody>
      </p:sp>
      <p:sp>
        <p:nvSpPr>
          <p:cNvPr id="9" name="TextBox 8"/>
          <p:cNvSpPr txBox="1"/>
          <p:nvPr/>
        </p:nvSpPr>
        <p:spPr>
          <a:xfrm>
            <a:off x="1480" y="6492875"/>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827" y="18255"/>
            <a:ext cx="10515600" cy="727469"/>
          </a:xfrm>
        </p:spPr>
        <p:txBody>
          <a:bodyPr>
            <a:normAutofit/>
          </a:bodyPr>
          <a:lstStyle/>
          <a:p>
            <a:r>
              <a:rPr lang="en-US" sz="3600" b="1" dirty="0">
                <a:latin typeface="Cambria" panose="02040503050406030204" pitchFamily="18" charset="0"/>
              </a:rPr>
              <a:t>Existing Algorithm :SVM</a:t>
            </a:r>
            <a:endParaRPr lang="en-IN" sz="3600" dirty="0"/>
          </a:p>
        </p:txBody>
      </p:sp>
      <p:sp>
        <p:nvSpPr>
          <p:cNvPr id="5" name="TextBox 4"/>
          <p:cNvSpPr txBox="1"/>
          <p:nvPr/>
        </p:nvSpPr>
        <p:spPr>
          <a:xfrm>
            <a:off x="1480" y="6470413"/>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
        <p:nvSpPr>
          <p:cNvPr id="9" name="Rectangle 4"/>
          <p:cNvSpPr>
            <a:spLocks noChangeArrowheads="1"/>
          </p:cNvSpPr>
          <p:nvPr/>
        </p:nvSpPr>
        <p:spPr bwMode="auto">
          <a:xfrm rot="10800000" flipV="1">
            <a:off x="878889" y="2376962"/>
            <a:ext cx="906410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9" name="Rectangle 14"/>
          <p:cNvSpPr>
            <a:spLocks noGrp="1" noChangeArrowheads="1"/>
          </p:cNvSpPr>
          <p:nvPr>
            <p:ph idx="1"/>
          </p:nvPr>
        </p:nvSpPr>
        <p:spPr bwMode="auto">
          <a:xfrm>
            <a:off x="621438" y="659968"/>
            <a:ext cx="10413506" cy="4094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Old Methods for Classification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Older systems like SVM were used to check video content, but they are not very accurate for complex videos.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Detection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SVM works with only two groups, so it is not good at finding different types of inappropriate content.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Separation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tries to separate content using simple rules but cannot fully understand videos like deep learning can.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Struggles with Complex Videos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SVM can handle some difficult cases, but deep learning is much better at finding hidden inappropriate content.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1" name="TextBox 20"/>
          <p:cNvSpPr txBox="1"/>
          <p:nvPr/>
        </p:nvSpPr>
        <p:spPr>
          <a:xfrm>
            <a:off x="621438" y="5342603"/>
            <a:ext cx="6121152" cy="769441"/>
          </a:xfrm>
          <a:prstGeom prst="rect">
            <a:avLst/>
          </a:prstGeom>
          <a:noFill/>
        </p:spPr>
        <p:txBody>
          <a:bodyPr wrap="square">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Time complexity</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Low accuracy </a:t>
            </a:r>
            <a:endParaRPr lang="en-US" sz="2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621438" y="4927869"/>
            <a:ext cx="6121152" cy="43088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Existing drawbacks</a:t>
            </a:r>
            <a:endParaRPr lang="en-IN"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394" y="178695"/>
            <a:ext cx="10515600" cy="786428"/>
          </a:xfrm>
        </p:spPr>
        <p:txBody>
          <a:bodyPr>
            <a:normAutofit/>
          </a:bodyPr>
          <a:lstStyle/>
          <a:p>
            <a:r>
              <a:rPr lang="en-IN" sz="3600" dirty="0">
                <a:latin typeface="Times New Roman" panose="02020603050405020304" pitchFamily="18" charset="0"/>
                <a:cs typeface="Times New Roman" panose="02020603050405020304" pitchFamily="18" charset="0"/>
              </a:rPr>
              <a:t>PROPOSED METHOD </a:t>
            </a:r>
            <a:endParaRPr lang="en-IN" sz="3600" dirty="0"/>
          </a:p>
        </p:txBody>
      </p:sp>
      <p:sp>
        <p:nvSpPr>
          <p:cNvPr id="3" name="Content Placeholder 2"/>
          <p:cNvSpPr>
            <a:spLocks noGrp="1"/>
          </p:cNvSpPr>
          <p:nvPr>
            <p:ph idx="1"/>
          </p:nvPr>
        </p:nvSpPr>
        <p:spPr>
          <a:xfrm>
            <a:off x="436019" y="965123"/>
            <a:ext cx="10874406" cy="4351338"/>
          </a:xfrm>
        </p:spPr>
        <p:txBody>
          <a:bodyPr>
            <a:noAutofit/>
          </a:bodyPr>
          <a:lstStyle/>
          <a:p>
            <a:pPr marL="685800" indent="-457200" algn="just">
              <a:lnSpc>
                <a:spcPct val="100000"/>
              </a:lnSpc>
              <a:spcAft>
                <a:spcPts val="800"/>
              </a:spcAf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New Learning Method with Better Focus – A new advanced model is introduced to find and classify inappropriate video content, using a special attention technique to improve accuracy by focusing on key details.</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685800" indent="-457200" algn="just">
              <a:lnSpc>
                <a:spcPct val="10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rPr>
              <a:t>Two algorithms are trained on YouTube video annotated images such as Attention based BI-LSTM and EfficientNetB7 based BI-LSTM and in both algorithms EfficientNetB7 is giving better accuracy. </a:t>
            </a:r>
            <a:endParaRPr lang="en-IN" sz="2200" dirty="0">
              <a:effectLst/>
              <a:latin typeface="Times New Roman" panose="02020603050405020304" pitchFamily="18" charset="0"/>
              <a:ea typeface="Calibri" panose="020F0502020204030204" pitchFamily="34" charset="0"/>
            </a:endParaRPr>
          </a:p>
          <a:p>
            <a:pPr marL="685800" indent="-457200" algn="just">
              <a:lnSpc>
                <a:spcPct val="10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rPr>
              <a:t>On same dataset we have experiment with existing SVM algorithm but its accuracy is less than propose EfficientNetB7-BILSTM algorithm.</a:t>
            </a:r>
            <a:endParaRPr lang="en-IN" sz="2200" dirty="0">
              <a:effectLst/>
              <a:latin typeface="Times New Roman" panose="02020603050405020304" pitchFamily="18" charset="0"/>
              <a:ea typeface="Calibri" panose="020F0502020204030204" pitchFamily="34" charset="0"/>
            </a:endParaRPr>
          </a:p>
          <a:p>
            <a:pPr marL="685800" indent="-457200" algn="just">
              <a:lnSpc>
                <a:spcPct val="10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rPr>
              <a:t> In propose paper author has used vulgar videos like nudity and sex so we cannot used such dataset to test above algorithms so we have used ‘Normal and Violence (fight)’ type of dataset to train above algorithms. For kids violence and fighting videos are also consider as Inappropriate Content.</a:t>
            </a:r>
            <a:endParaRPr lang="en-US" sz="2200" dirty="0">
              <a:latin typeface="Times New Roman" panose="02020603050405020304" pitchFamily="18" charset="0"/>
              <a:cs typeface="Times New Roman" panose="02020603050405020304" pitchFamily="18" charset="0"/>
            </a:endParaRPr>
          </a:p>
          <a:p>
            <a:pPr>
              <a:lnSpc>
                <a:spcPct val="100000"/>
              </a:lnSpc>
            </a:pPr>
            <a:endParaRPr lang="en-IN" sz="2200" dirty="0"/>
          </a:p>
        </p:txBody>
      </p:sp>
      <p:sp>
        <p:nvSpPr>
          <p:cNvPr id="5" name="TextBox 4"/>
          <p:cNvSpPr txBox="1"/>
          <p:nvPr/>
        </p:nvSpPr>
        <p:spPr>
          <a:xfrm>
            <a:off x="1480"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583" y="143185"/>
            <a:ext cx="10515600" cy="726828"/>
          </a:xfrm>
        </p:spPr>
        <p:txBody>
          <a:bodyPr>
            <a:normAutofit/>
          </a:bodyPr>
          <a:lstStyle/>
          <a:p>
            <a:r>
              <a:rPr lang="en-IN" sz="3600" dirty="0">
                <a:latin typeface="Times New Roman" panose="02020603050405020304" pitchFamily="18" charset="0"/>
                <a:cs typeface="Times New Roman" panose="02020603050405020304" pitchFamily="18" charset="0"/>
              </a:rPr>
              <a:t>FLOW CHART OF PROPOSED SYSTEM</a:t>
            </a:r>
            <a:endParaRPr lang="en-IN" sz="3600" dirty="0"/>
          </a:p>
        </p:txBody>
      </p:sp>
      <p:pic>
        <p:nvPicPr>
          <p:cNvPr id="4" name="Content Placeholder 3"/>
          <p:cNvPicPr>
            <a:picLocks noGrp="1" noChangeAspect="1"/>
          </p:cNvPicPr>
          <p:nvPr>
            <p:ph idx="1"/>
          </p:nvPr>
        </p:nvPicPr>
        <p:blipFill rotWithShape="1">
          <a:blip r:embed="rId1"/>
          <a:srcRect l="50000" t="27778" r="24167" b="23016"/>
          <a:stretch>
            <a:fillRect/>
          </a:stretch>
        </p:blipFill>
        <p:spPr>
          <a:xfrm>
            <a:off x="3529726" y="1346231"/>
            <a:ext cx="4351313" cy="4351338"/>
          </a:xfrm>
          <a:prstGeom prst="rect">
            <a:avLst/>
          </a:prstGeom>
        </p:spPr>
      </p:pic>
      <p:sp>
        <p:nvSpPr>
          <p:cNvPr id="6" name="TextBox 5"/>
          <p:cNvSpPr txBox="1"/>
          <p:nvPr/>
        </p:nvSpPr>
        <p:spPr>
          <a:xfrm>
            <a:off x="1480"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273" y="203561"/>
            <a:ext cx="10515600" cy="1325563"/>
          </a:xfrm>
        </p:spPr>
        <p:txBody>
          <a:bodyPr>
            <a:normAutofit/>
          </a:bodyPr>
          <a:lstStyle/>
          <a:p>
            <a:r>
              <a:rPr lang="en-US" sz="3600" dirty="0">
                <a:solidFill>
                  <a:schemeClr val="accent2">
                    <a:lumMod val="50000"/>
                  </a:schemeClr>
                </a:solidFill>
                <a:latin typeface="Times New Roman" panose="02020603050405020304" pitchFamily="18" charset="0"/>
                <a:cs typeface="Times New Roman" panose="02020603050405020304" pitchFamily="18" charset="0"/>
              </a:rPr>
              <a:t>RESULTS</a:t>
            </a:r>
            <a:endParaRPr lang="en-IN" sz="3600" dirty="0"/>
          </a:p>
        </p:txBody>
      </p:sp>
      <p:pic>
        <p:nvPicPr>
          <p:cNvPr id="4" name="Content Placeholder 5"/>
          <p:cNvPicPr>
            <a:picLocks noGrp="1" noChangeAspect="1"/>
          </p:cNvPicPr>
          <p:nvPr>
            <p:ph idx="1"/>
          </p:nvPr>
        </p:nvPicPr>
        <p:blipFill rotWithShape="1">
          <a:blip r:embed="rId1"/>
          <a:srcRect b="5057"/>
          <a:stretch>
            <a:fillRect/>
          </a:stretch>
        </p:blipFill>
        <p:spPr>
          <a:xfrm>
            <a:off x="488273" y="1363354"/>
            <a:ext cx="10822152" cy="4131291"/>
          </a:xfrm>
          <a:prstGeom prst="rect">
            <a:avLst/>
          </a:prstGeom>
        </p:spPr>
      </p:pic>
      <p:sp>
        <p:nvSpPr>
          <p:cNvPr id="8" name="TextBox 7"/>
          <p:cNvSpPr txBox="1"/>
          <p:nvPr/>
        </p:nvSpPr>
        <p:spPr>
          <a:xfrm>
            <a:off x="2470212" y="5865465"/>
            <a:ext cx="7384002" cy="430887"/>
          </a:xfrm>
          <a:prstGeom prst="rect">
            <a:avLst/>
          </a:prstGeom>
          <a:noFill/>
        </p:spPr>
        <p:txBody>
          <a:bodyPr wrap="square">
            <a:spAutoFit/>
          </a:bodyPr>
          <a:lstStyle/>
          <a:p>
            <a:pPr algn="ctr"/>
            <a:r>
              <a:rPr lang="en-US" sz="2200" b="1" dirty="0">
                <a:solidFill>
                  <a:schemeClr val="tx1"/>
                </a:solidFill>
                <a:latin typeface="Times New Roman" panose="02020603050405020304" pitchFamily="18" charset="0"/>
                <a:cs typeface="Times New Roman" panose="02020603050405020304" pitchFamily="18" charset="0"/>
              </a:rPr>
              <a:t>Dataset containing both Normal and Violence videos </a:t>
            </a:r>
            <a:endParaRPr lang="en-IN" sz="2200" b="1" dirty="0">
              <a:solidFill>
                <a:schemeClr val="tx1"/>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55486"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1"/>
          <a:srcRect b="4853"/>
          <a:stretch>
            <a:fillRect/>
          </a:stretch>
        </p:blipFill>
        <p:spPr>
          <a:xfrm>
            <a:off x="590824" y="899178"/>
            <a:ext cx="10719601" cy="4140169"/>
          </a:xfrm>
          <a:prstGeom prst="rect">
            <a:avLst/>
          </a:prstGeom>
        </p:spPr>
      </p:pic>
      <p:sp>
        <p:nvSpPr>
          <p:cNvPr id="6" name="TextBox 5"/>
          <p:cNvSpPr txBox="1"/>
          <p:nvPr/>
        </p:nvSpPr>
        <p:spPr>
          <a:xfrm>
            <a:off x="3340224" y="5587615"/>
            <a:ext cx="6094520" cy="545919"/>
          </a:xfrm>
          <a:prstGeom prst="rect">
            <a:avLst/>
          </a:prstGeom>
          <a:noFill/>
        </p:spPr>
        <p:txBody>
          <a:bodyPr wrap="square">
            <a:spAutoFit/>
          </a:bodyPr>
          <a:lstStyle/>
          <a:p>
            <a:pPr algn="just">
              <a:lnSpc>
                <a:spcPct val="150000"/>
              </a:lnSpc>
              <a:spcAft>
                <a:spcPts val="800"/>
              </a:spcAft>
            </a:pPr>
            <a:r>
              <a:rPr lang="en-IN" sz="2200" b="1" dirty="0">
                <a:effectLst/>
                <a:latin typeface="Times New Roman" panose="02020603050405020304" pitchFamily="18" charset="0"/>
                <a:ea typeface="Calibri" panose="020F0502020204030204" pitchFamily="34" charset="0"/>
                <a:cs typeface="Times New Roman" panose="02020603050405020304" pitchFamily="18" charset="0"/>
              </a:rPr>
              <a:t>Violence Images used for Training Model</a:t>
            </a:r>
            <a:endParaRPr lang="en-IN" sz="22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p:cNvSpPr txBox="1"/>
          <p:nvPr/>
        </p:nvSpPr>
        <p:spPr>
          <a:xfrm>
            <a:off x="21174"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1"/>
          <a:srcRect b="5448"/>
          <a:stretch>
            <a:fillRect/>
          </a:stretch>
        </p:blipFill>
        <p:spPr>
          <a:xfrm>
            <a:off x="452762" y="987046"/>
            <a:ext cx="10857664" cy="4676907"/>
          </a:xfrm>
          <a:prstGeom prst="rect">
            <a:avLst/>
          </a:prstGeom>
        </p:spPr>
      </p:pic>
      <p:sp>
        <p:nvSpPr>
          <p:cNvPr id="6" name="TextBox 5"/>
          <p:cNvSpPr txBox="1"/>
          <p:nvPr/>
        </p:nvSpPr>
        <p:spPr>
          <a:xfrm>
            <a:off x="3455633" y="5845066"/>
            <a:ext cx="6094520" cy="545919"/>
          </a:xfrm>
          <a:prstGeom prst="rect">
            <a:avLst/>
          </a:prstGeom>
          <a:noFill/>
        </p:spPr>
        <p:txBody>
          <a:bodyPr wrap="square">
            <a:spAutoFit/>
          </a:bodyPr>
          <a:lstStyle/>
          <a:p>
            <a:pPr algn="just">
              <a:lnSpc>
                <a:spcPct val="150000"/>
              </a:lnSpc>
              <a:spcAft>
                <a:spcPts val="800"/>
              </a:spcAft>
            </a:pPr>
            <a:r>
              <a:rPr lang="en-IN" sz="2200" b="1" dirty="0">
                <a:effectLst/>
                <a:latin typeface="Times New Roman" panose="02020603050405020304" pitchFamily="18" charset="0"/>
                <a:ea typeface="Calibri" panose="020F0502020204030204" pitchFamily="34" charset="0"/>
                <a:cs typeface="Times New Roman" panose="02020603050405020304" pitchFamily="18" charset="0"/>
              </a:rPr>
              <a:t> GUI prepared for proposed Model</a:t>
            </a:r>
            <a:endParaRPr lang="en-IN" sz="22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p:cNvSpPr txBox="1"/>
          <p:nvPr/>
        </p:nvSpPr>
        <p:spPr>
          <a:xfrm>
            <a:off x="1480" y="6478853"/>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1905" y="5995464"/>
            <a:ext cx="5482701" cy="315912"/>
          </a:xfrm>
        </p:spPr>
        <p:txBody>
          <a:bodyPr>
            <a:noAutofit/>
          </a:bodyPr>
          <a:lstStyle/>
          <a:p>
            <a:r>
              <a:rPr lang="en-IN" sz="2200" b="1" dirty="0">
                <a:effectLst/>
                <a:latin typeface="Times New Roman" panose="02020603050405020304" pitchFamily="18" charset="0"/>
                <a:ea typeface="Calibri" panose="020F0502020204030204" pitchFamily="34" charset="0"/>
              </a:rPr>
              <a:t>Bar Graph : Safe and Inappropriate images </a:t>
            </a:r>
            <a:endParaRPr lang="en-IN" sz="2200" b="1" dirty="0"/>
          </a:p>
        </p:txBody>
      </p:sp>
      <p:pic>
        <p:nvPicPr>
          <p:cNvPr id="4" name="Content Placeholder 3"/>
          <p:cNvPicPr>
            <a:picLocks noGrp="1" noChangeAspect="1"/>
          </p:cNvPicPr>
          <p:nvPr>
            <p:ph idx="1"/>
          </p:nvPr>
        </p:nvPicPr>
        <p:blipFill rotWithShape="1">
          <a:blip r:embed="rId1"/>
          <a:srcRect b="5437"/>
          <a:stretch>
            <a:fillRect/>
          </a:stretch>
        </p:blipFill>
        <p:spPr>
          <a:xfrm>
            <a:off x="550416" y="822448"/>
            <a:ext cx="10760010" cy="4828050"/>
          </a:xfrm>
          <a:prstGeom prst="rect">
            <a:avLst/>
          </a:prstGeom>
        </p:spPr>
      </p:pic>
      <p:sp>
        <p:nvSpPr>
          <p:cNvPr id="6" name="TextBox 5"/>
          <p:cNvSpPr txBox="1"/>
          <p:nvPr/>
        </p:nvSpPr>
        <p:spPr>
          <a:xfrm>
            <a:off x="0"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4625" y="5792899"/>
            <a:ext cx="5482701" cy="315912"/>
          </a:xfrm>
        </p:spPr>
        <p:txBody>
          <a:bodyPr>
            <a:noAutofit/>
          </a:bodyPr>
          <a:lstStyle/>
          <a:p>
            <a:r>
              <a:rPr lang="en-US" altLang="en-IN" sz="2200" b="1" dirty="0">
                <a:latin typeface="Times New Roman" panose="02020603050405020304" pitchFamily="18" charset="0"/>
                <a:cs typeface="Times New Roman" panose="02020603050405020304" pitchFamily="18" charset="0"/>
                <a:sym typeface="+mn-ea"/>
              </a:rPr>
              <a:t>EfficientNet- SVM Confusion matrix</a:t>
            </a:r>
            <a:endParaRPr lang="en-IN" sz="2200" b="1" dirty="0"/>
          </a:p>
        </p:txBody>
      </p:sp>
      <p:sp>
        <p:nvSpPr>
          <p:cNvPr id="6" name="TextBox 5"/>
          <p:cNvSpPr txBox="1"/>
          <p:nvPr/>
        </p:nvSpPr>
        <p:spPr>
          <a:xfrm>
            <a:off x="0"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pic>
        <p:nvPicPr>
          <p:cNvPr id="7" name="Content Placeholder 6"/>
          <p:cNvPicPr>
            <a:picLocks noChangeAspect="1"/>
          </p:cNvPicPr>
          <p:nvPr>
            <p:ph idx="1"/>
          </p:nvPr>
        </p:nvPicPr>
        <p:blipFill>
          <a:blip r:embed="rId2"/>
          <a:stretch>
            <a:fillRect/>
          </a:stretch>
        </p:blipFill>
        <p:spPr>
          <a:xfrm>
            <a:off x="807720" y="601980"/>
            <a:ext cx="10156825" cy="50311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4725" y="5995670"/>
            <a:ext cx="8323580" cy="315595"/>
          </a:xfrm>
        </p:spPr>
        <p:txBody>
          <a:bodyPr>
            <a:noAutofit/>
          </a:bodyPr>
          <a:lstStyle/>
          <a:p>
            <a:r>
              <a:rPr lang="en-US" altLang="en-IN" sz="2200" b="1" dirty="0">
                <a:latin typeface="Times New Roman" panose="02020603050405020304" pitchFamily="18" charset="0"/>
                <a:cs typeface="Times New Roman" panose="02020603050405020304" pitchFamily="18" charset="0"/>
              </a:rPr>
              <a:t>Propose EfficientNet- BiLSTM Algorithm Confusion matrix</a:t>
            </a:r>
            <a:endParaRPr lang="en-US" altLang="en-IN" sz="22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0"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pic>
        <p:nvPicPr>
          <p:cNvPr id="7" name="Content Placeholder 6"/>
          <p:cNvPicPr>
            <a:picLocks noChangeAspect="1"/>
          </p:cNvPicPr>
          <p:nvPr>
            <p:ph idx="1"/>
          </p:nvPr>
        </p:nvPicPr>
        <p:blipFill>
          <a:blip r:embed="rId2"/>
          <a:stretch>
            <a:fillRect/>
          </a:stretch>
        </p:blipFill>
        <p:spPr>
          <a:xfrm>
            <a:off x="771525" y="763270"/>
            <a:ext cx="10539730" cy="50558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7162" y="6172756"/>
            <a:ext cx="10750859" cy="315912"/>
          </a:xfrm>
        </p:spPr>
        <p:txBody>
          <a:bodyPr>
            <a:noAutofit/>
          </a:bodyPr>
          <a:lstStyle/>
          <a:p>
            <a:r>
              <a:rPr lang="en-IN" sz="2200" b="1" dirty="0">
                <a:effectLst/>
                <a:latin typeface="Times New Roman" panose="02020603050405020304" pitchFamily="18" charset="0"/>
                <a:ea typeface="Calibri" panose="020F0502020204030204" pitchFamily="34" charset="0"/>
              </a:rPr>
              <a:t>Performance analysis of Efficient Bi-LSTM and Efficient SVM </a:t>
            </a:r>
            <a:r>
              <a:rPr lang="en-IN" sz="2200" b="1" dirty="0" err="1">
                <a:effectLst/>
                <a:latin typeface="Times New Roman" panose="02020603050405020304" pitchFamily="18" charset="0"/>
                <a:ea typeface="Calibri" panose="020F0502020204030204" pitchFamily="34" charset="0"/>
              </a:rPr>
              <a:t>algAorithms</a:t>
            </a:r>
            <a:r>
              <a:rPr lang="en-IN" sz="2200" b="1" dirty="0">
                <a:effectLst/>
                <a:latin typeface="Times New Roman" panose="02020603050405020304" pitchFamily="18" charset="0"/>
                <a:ea typeface="Calibri" panose="020F0502020204030204" pitchFamily="34" charset="0"/>
              </a:rPr>
              <a:t> </a:t>
            </a:r>
            <a:endParaRPr lang="en-IN" sz="2200" dirty="0"/>
          </a:p>
        </p:txBody>
      </p:sp>
      <p:pic>
        <p:nvPicPr>
          <p:cNvPr id="5" name="Content Placeholder 3"/>
          <p:cNvPicPr>
            <a:picLocks noGrp="1" noChangeAspect="1"/>
          </p:cNvPicPr>
          <p:nvPr>
            <p:ph idx="1"/>
          </p:nvPr>
        </p:nvPicPr>
        <p:blipFill rotWithShape="1">
          <a:blip r:embed="rId1"/>
          <a:srcRect l="79" t="341" r="-79" b="6809"/>
          <a:stretch>
            <a:fillRect/>
          </a:stretch>
        </p:blipFill>
        <p:spPr>
          <a:xfrm>
            <a:off x="479854" y="899178"/>
            <a:ext cx="10750859" cy="4906818"/>
          </a:xfrm>
          <a:prstGeom prst="rect">
            <a:avLst/>
          </a:prstGeom>
        </p:spPr>
      </p:pic>
      <p:sp>
        <p:nvSpPr>
          <p:cNvPr id="7" name="TextBox 6"/>
          <p:cNvSpPr txBox="1"/>
          <p:nvPr/>
        </p:nvSpPr>
        <p:spPr>
          <a:xfrm>
            <a:off x="1479"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5455" y="6143470"/>
            <a:ext cx="7598545" cy="315912"/>
          </a:xfrm>
        </p:spPr>
        <p:txBody>
          <a:bodyPr>
            <a:normAutofit fontScale="90000"/>
          </a:bodyPr>
          <a:lstStyle/>
          <a:p>
            <a:r>
              <a:rPr lang="en-IN" sz="2200" b="1" dirty="0">
                <a:effectLst/>
                <a:latin typeface="Times New Roman" panose="02020603050405020304" pitchFamily="18" charset="0"/>
                <a:ea typeface="Calibri" panose="020F0502020204030204" pitchFamily="34" charset="0"/>
              </a:rPr>
              <a:t>Inappropriate Content is detected</a:t>
            </a:r>
            <a:endParaRPr lang="en-IN" sz="2200" dirty="0"/>
          </a:p>
        </p:txBody>
      </p:sp>
      <p:pic>
        <p:nvPicPr>
          <p:cNvPr id="4" name="Content Placeholder 3"/>
          <p:cNvPicPr>
            <a:picLocks noGrp="1" noChangeAspect="1"/>
          </p:cNvPicPr>
          <p:nvPr>
            <p:ph idx="1"/>
          </p:nvPr>
        </p:nvPicPr>
        <p:blipFill rotWithShape="1">
          <a:blip r:embed="rId1"/>
          <a:srcRect b="5748"/>
          <a:stretch>
            <a:fillRect/>
          </a:stretch>
        </p:blipFill>
        <p:spPr>
          <a:xfrm>
            <a:off x="299800" y="798989"/>
            <a:ext cx="11010625" cy="5104661"/>
          </a:xfrm>
          <a:prstGeom prst="rect">
            <a:avLst/>
          </a:prstGeom>
        </p:spPr>
      </p:pic>
      <p:sp>
        <p:nvSpPr>
          <p:cNvPr id="6" name="TextBox 5"/>
          <p:cNvSpPr txBox="1"/>
          <p:nvPr/>
        </p:nvSpPr>
        <p:spPr>
          <a:xfrm>
            <a:off x="1480"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2511" y="5921283"/>
            <a:ext cx="6920883" cy="478254"/>
          </a:xfrm>
        </p:spPr>
        <p:txBody>
          <a:bodyPr>
            <a:normAutofit/>
          </a:bodyPr>
          <a:lstStyle/>
          <a:p>
            <a:r>
              <a:rPr lang="en-IN" sz="2200" b="1" dirty="0">
                <a:effectLst/>
                <a:latin typeface="Times New Roman" panose="02020603050405020304" pitchFamily="18" charset="0"/>
                <a:ea typeface="Calibri" panose="020F0502020204030204" pitchFamily="34" charset="0"/>
              </a:rPr>
              <a:t>Inappropriate Content is not detected (Safe Content )</a:t>
            </a:r>
            <a:endParaRPr lang="en-IN" sz="2200" dirty="0"/>
          </a:p>
        </p:txBody>
      </p:sp>
      <p:pic>
        <p:nvPicPr>
          <p:cNvPr id="4" name="Content Placeholder 3"/>
          <p:cNvPicPr>
            <a:picLocks noGrp="1" noChangeAspect="1"/>
          </p:cNvPicPr>
          <p:nvPr>
            <p:ph idx="1"/>
          </p:nvPr>
        </p:nvPicPr>
        <p:blipFill rotWithShape="1">
          <a:blip r:embed="rId1"/>
          <a:srcRect b="6057"/>
          <a:stretch>
            <a:fillRect/>
          </a:stretch>
        </p:blipFill>
        <p:spPr>
          <a:xfrm>
            <a:off x="337353" y="816745"/>
            <a:ext cx="10973072" cy="4873841"/>
          </a:xfrm>
          <a:prstGeom prst="rect">
            <a:avLst/>
          </a:prstGeom>
        </p:spPr>
      </p:pic>
      <p:sp>
        <p:nvSpPr>
          <p:cNvPr id="6" name="TextBox 5"/>
          <p:cNvSpPr txBox="1"/>
          <p:nvPr/>
        </p:nvSpPr>
        <p:spPr>
          <a:xfrm>
            <a:off x="68432"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solidFill>
                  <a:schemeClr val="accent2">
                    <a:lumMod val="50000"/>
                  </a:schemeClr>
                </a:solidFill>
                <a:latin typeface="Times New Roman" panose="02020603050405020304" pitchFamily="18" charset="0"/>
                <a:cs typeface="Times New Roman" panose="02020603050405020304" pitchFamily="18" charset="0"/>
              </a:rPr>
              <a:t>ADVANTAGES</a:t>
            </a:r>
            <a:endParaRPr lang="en-IN" sz="3600" dirty="0"/>
          </a:p>
        </p:txBody>
      </p:sp>
      <p:sp>
        <p:nvSpPr>
          <p:cNvPr id="5" name="TextBox 4"/>
          <p:cNvSpPr txBox="1"/>
          <p:nvPr/>
        </p:nvSpPr>
        <p:spPr>
          <a:xfrm>
            <a:off x="0"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
        <p:nvSpPr>
          <p:cNvPr id="4" name="Rectangle 1"/>
          <p:cNvSpPr>
            <a:spLocks noGrp="1" noChangeArrowheads="1"/>
          </p:cNvSpPr>
          <p:nvPr>
            <p:ph idx="1"/>
          </p:nvPr>
        </p:nvSpPr>
        <p:spPr bwMode="auto">
          <a:xfrm>
            <a:off x="956198" y="1518974"/>
            <a:ext cx="10276643" cy="2570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Accuracy.</a:t>
            </a: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Processing.</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Protects Children</a:t>
            </a:r>
            <a:r>
              <a:rPr lang="en-US" altLang="en-US" sz="2200" dirty="0">
                <a:latin typeface="Times New Roman" panose="02020603050405020304" pitchFamily="18" charset="0"/>
                <a:cs typeface="Times New Roman" panose="02020603050405020304" pitchFamily="18" charset="0"/>
              </a:rPr>
              <a: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Works on Different Videos</a:t>
            </a:r>
            <a:r>
              <a:rPr lang="en-US" altLang="en-US" sz="2200" dirty="0">
                <a:latin typeface="Times New Roman" panose="02020603050405020304" pitchFamily="18" charset="0"/>
                <a:cs typeface="Times New Roman" panose="02020603050405020304" pitchFamily="18" charset="0"/>
              </a:rPr>
              <a: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Content Moderation.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10" descr="Spammer Detection and Fake User ..."/>
          <p:cNvPicPr>
            <a:picLocks noChangeAspect="1" noChangeArrowheads="1"/>
          </p:cNvPicPr>
          <p:nvPr/>
        </p:nvPicPr>
        <p:blipFill>
          <a:blip r:embed="rId2"/>
          <a:srcRect/>
          <a:stretch>
            <a:fillRect/>
          </a:stretch>
        </p:blipFill>
        <p:spPr bwMode="auto">
          <a:xfrm>
            <a:off x="6971323" y="1842578"/>
            <a:ext cx="3266829" cy="2260704"/>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solidFill>
                  <a:schemeClr val="accent2">
                    <a:lumMod val="50000"/>
                  </a:schemeClr>
                </a:solidFill>
                <a:latin typeface="Times New Roman" panose="02020603050405020304" pitchFamily="18" charset="0"/>
                <a:cs typeface="Times New Roman" panose="02020603050405020304" pitchFamily="18" charset="0"/>
              </a:rPr>
              <a:t>APPLICATIONS</a:t>
            </a:r>
            <a:endParaRPr lang="en-IN" sz="3600" dirty="0"/>
          </a:p>
        </p:txBody>
      </p:sp>
      <p:sp>
        <p:nvSpPr>
          <p:cNvPr id="5" name="TextBox 4"/>
          <p:cNvSpPr txBox="1"/>
          <p:nvPr/>
        </p:nvSpPr>
        <p:spPr>
          <a:xfrm>
            <a:off x="1480" y="6492875"/>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
        <p:nvSpPr>
          <p:cNvPr id="4" name="Rectangle 1"/>
          <p:cNvSpPr>
            <a:spLocks noGrp="1" noChangeArrowheads="1"/>
          </p:cNvSpPr>
          <p:nvPr>
            <p:ph idx="1"/>
          </p:nvPr>
        </p:nvSpPr>
        <p:spPr bwMode="auto">
          <a:xfrm>
            <a:off x="1024261" y="1757153"/>
            <a:ext cx="10143478" cy="2570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YouTube and Social Media</a:t>
            </a:r>
            <a:r>
              <a:rPr lang="en-US" altLang="en-US" sz="2200" dirty="0">
                <a:latin typeface="Times New Roman" panose="02020603050405020304" pitchFamily="18" charset="0"/>
                <a:cs typeface="Times New Roman" panose="02020603050405020304" pitchFamily="18" charset="0"/>
              </a:rPr>
              <a: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Parental Control Apps.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Educational Platforms</a:t>
            </a:r>
            <a:r>
              <a:rPr lang="en-US" altLang="en-US" sz="2200" dirty="0">
                <a:latin typeface="Times New Roman" panose="02020603050405020304" pitchFamily="18" charset="0"/>
                <a:cs typeface="Times New Roman" panose="02020603050405020304" pitchFamily="18" charset="0"/>
              </a:rPr>
              <a: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Government and Law Enforcement.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Media Companies.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8" descr="Cutting-Edge Deep Learning Project: Spammer Detection And Fake User  Identification On Social Networks Project - Code With C"/>
          <p:cNvPicPr>
            <a:picLocks noChangeAspect="1" noChangeArrowheads="1"/>
          </p:cNvPicPr>
          <p:nvPr/>
        </p:nvPicPr>
        <p:blipFill>
          <a:blip r:embed="rId2" cstate="print"/>
          <a:srcRect/>
          <a:stretch>
            <a:fillRect/>
          </a:stretch>
        </p:blipFill>
        <p:spPr bwMode="auto">
          <a:xfrm>
            <a:off x="7695480" y="1081815"/>
            <a:ext cx="3342606" cy="1880216"/>
          </a:xfrm>
          <a:prstGeom prst="rect">
            <a:avLst/>
          </a:prstGeom>
          <a:noFill/>
        </p:spPr>
      </p:pic>
      <p:pic>
        <p:nvPicPr>
          <p:cNvPr id="8" name="Picture 2" descr="airtel: Airtel develops AI-based ..."/>
          <p:cNvPicPr>
            <a:picLocks noChangeAspect="1" noChangeArrowheads="1"/>
          </p:cNvPicPr>
          <p:nvPr/>
        </p:nvPicPr>
        <p:blipFill>
          <a:blip r:embed="rId3"/>
          <a:srcRect/>
          <a:stretch>
            <a:fillRect/>
          </a:stretch>
        </p:blipFill>
        <p:spPr bwMode="auto">
          <a:xfrm>
            <a:off x="7695480" y="3340052"/>
            <a:ext cx="3269506" cy="2318183"/>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accent2">
                    <a:lumMod val="50000"/>
                  </a:schemeClr>
                </a:solidFill>
                <a:latin typeface="Times New Roman" panose="02020603050405020304" pitchFamily="18" charset="0"/>
                <a:cs typeface="Times New Roman" panose="02020603050405020304" pitchFamily="18" charset="0"/>
              </a:rPr>
              <a:t>CONCLUSION</a:t>
            </a:r>
            <a:endParaRPr lang="en-IN" sz="3600" dirty="0"/>
          </a:p>
        </p:txBody>
      </p:sp>
      <p:sp>
        <p:nvSpPr>
          <p:cNvPr id="3" name="Content Placeholder 2"/>
          <p:cNvSpPr>
            <a:spLocks noGrp="1"/>
          </p:cNvSpPr>
          <p:nvPr>
            <p:ph idx="1"/>
          </p:nvPr>
        </p:nvSpPr>
        <p:spPr/>
        <p:txBody>
          <a:bodyPr>
            <a:normAutofit/>
          </a:bodyPr>
          <a:lstStyle/>
          <a:p>
            <a:pPr algn="just">
              <a:lnSpc>
                <a:spcPct val="120000"/>
              </a:lnSpc>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While the model learns effective video representations, the </a:t>
            </a:r>
            <a:r>
              <a:rPr lang="en-IN" sz="2200" dirty="0" err="1">
                <a:effectLst/>
                <a:latin typeface="Times New Roman" panose="02020603050405020304" pitchFamily="18" charset="0"/>
                <a:ea typeface="Calibri" panose="020F0502020204030204" pitchFamily="34" charset="0"/>
                <a:cs typeface="Times New Roman" panose="02020603050405020304" pitchFamily="18" charset="0"/>
              </a:rPr>
              <a:t>BiLSTM</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network evaluates the recovered video features and performs multiclass video classification.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20000"/>
              </a:lnSpc>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By outperforming previously used models and methods and achieving a maximum recall score of 99.2%, our </a:t>
            </a:r>
            <a:r>
              <a:rPr lang="en-IN" sz="2200" dirty="0" err="1">
                <a:effectLst/>
                <a:latin typeface="Times New Roman" panose="02020603050405020304" pitchFamily="18" charset="0"/>
                <a:ea typeface="Calibri" panose="020F0502020204030204" pitchFamily="34" charset="0"/>
                <a:cs typeface="Times New Roman" panose="02020603050405020304" pitchFamily="18" charset="0"/>
              </a:rPr>
              <a:t>BiLSTM</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-based system outperformed previously used models and methodologies which gives accuracy of 99.04%.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20000"/>
              </a:lnSpc>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Our approach is independent of the metadata associated with YouTube videos, which malicious uploaders can alter to deceive consumers while looking for inappropriate children's content on the site. </a:t>
            </a:r>
            <a:endParaRPr lang="en-US" sz="2200" dirty="0">
              <a:latin typeface="Cambria" panose="02040503050406030204" pitchFamily="18" charset="0"/>
            </a:endParaRPr>
          </a:p>
          <a:p>
            <a:pPr>
              <a:lnSpc>
                <a:spcPct val="120000"/>
              </a:lnSpc>
            </a:pPr>
            <a:endParaRPr lang="en-IN" sz="2200" dirty="0"/>
          </a:p>
        </p:txBody>
      </p:sp>
      <p:sp>
        <p:nvSpPr>
          <p:cNvPr id="5" name="TextBox 4"/>
          <p:cNvSpPr txBox="1"/>
          <p:nvPr/>
        </p:nvSpPr>
        <p:spPr>
          <a:xfrm>
            <a:off x="1480" y="6492875"/>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solidFill>
                  <a:schemeClr val="accent2">
                    <a:lumMod val="50000"/>
                  </a:schemeClr>
                </a:solidFill>
                <a:latin typeface="Times New Roman" panose="02020603050405020304" pitchFamily="18" charset="0"/>
                <a:cs typeface="Times New Roman" panose="02020603050405020304" pitchFamily="18" charset="0"/>
              </a:rPr>
              <a:t>FUTURESCOPE</a:t>
            </a:r>
            <a:endParaRPr lang="en-IN" sz="3600" dirty="0"/>
          </a:p>
        </p:txBody>
      </p:sp>
      <p:sp>
        <p:nvSpPr>
          <p:cNvPr id="3" name="Content Placeholder 2"/>
          <p:cNvSpPr>
            <a:spLocks noGrp="1"/>
          </p:cNvSpPr>
          <p:nvPr>
            <p:ph idx="1"/>
          </p:nvPr>
        </p:nvSpPr>
        <p:spPr>
          <a:xfrm>
            <a:off x="794825" y="1532662"/>
            <a:ext cx="10515600" cy="4351338"/>
          </a:xfrm>
        </p:spPr>
        <p:txBody>
          <a:bodyPr>
            <a:normAutofit/>
          </a:bodyPr>
          <a:lstStyle/>
          <a:p>
            <a:pPr algn="just">
              <a:lnSpc>
                <a:spcPct val="150000"/>
              </a:lnSpc>
            </a:pPr>
            <a:r>
              <a:rPr lang="en-US" sz="2200" dirty="0">
                <a:latin typeface="Times New Roman" panose="02020603050405020304" pitchFamily="18" charset="0"/>
                <a:cs typeface="Times New Roman" panose="02020603050405020304" pitchFamily="18" charset="0"/>
              </a:rPr>
              <a:t>In future we can generate a separate app(android app) to understand the blocking process or removal process of videos.</a:t>
            </a:r>
            <a:endParaRPr lang="en-US" sz="2200" dirty="0">
              <a:latin typeface="Times New Roman" panose="02020603050405020304" pitchFamily="18" charset="0"/>
              <a:cs typeface="Times New Roman" panose="02020603050405020304" pitchFamily="18" charset="0"/>
            </a:endParaRPr>
          </a:p>
          <a:p>
            <a:pPr algn="just">
              <a:lnSpc>
                <a:spcPct val="150000"/>
              </a:lnSpc>
            </a:pPr>
            <a:r>
              <a:rPr lang="en-US" sz="2200" dirty="0">
                <a:latin typeface="Times New Roman" panose="02020603050405020304" pitchFamily="18" charset="0"/>
                <a:cs typeface="Times New Roman" panose="02020603050405020304" pitchFamily="18" charset="0"/>
              </a:rPr>
              <a:t>Similar algorithm can be applied to other social media videos also like Instagram videos, Facebook videos. </a:t>
            </a:r>
            <a:endParaRPr lang="en-US" sz="2200" dirty="0">
              <a:latin typeface="Times New Roman" panose="02020603050405020304" pitchFamily="18" charset="0"/>
              <a:cs typeface="Times New Roman" panose="02020603050405020304" pitchFamily="18" charset="0"/>
            </a:endParaRPr>
          </a:p>
          <a:p>
            <a:endParaRPr lang="en-IN" sz="2200" dirty="0"/>
          </a:p>
        </p:txBody>
      </p:sp>
      <p:sp>
        <p:nvSpPr>
          <p:cNvPr id="5" name="TextBox 4"/>
          <p:cNvSpPr txBox="1"/>
          <p:nvPr/>
        </p:nvSpPr>
        <p:spPr>
          <a:xfrm>
            <a:off x="1480" y="6492875"/>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pic>
        <p:nvPicPr>
          <p:cNvPr id="7" name="Picture 2" descr="generative AI on cybersecurity ..."/>
          <p:cNvPicPr>
            <a:picLocks noChangeAspect="1" noChangeArrowheads="1"/>
          </p:cNvPicPr>
          <p:nvPr/>
        </p:nvPicPr>
        <p:blipFill>
          <a:blip r:embed="rId2"/>
          <a:srcRect/>
          <a:stretch>
            <a:fillRect/>
          </a:stretch>
        </p:blipFill>
        <p:spPr bwMode="auto">
          <a:xfrm>
            <a:off x="7479955" y="3399192"/>
            <a:ext cx="3322271" cy="26300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6359" y="449589"/>
            <a:ext cx="10515600" cy="522642"/>
          </a:xfrm>
        </p:spPr>
        <p:txBody>
          <a:bodyPr>
            <a:noAutofit/>
          </a:bodyPr>
          <a:lstStyle/>
          <a:p>
            <a:r>
              <a:rPr lang="en-US" sz="3600" dirty="0">
                <a:solidFill>
                  <a:schemeClr val="accent2">
                    <a:lumMod val="50000"/>
                  </a:schemeClr>
                </a:solidFill>
                <a:latin typeface="Times New Roman" panose="02020603050405020304" pitchFamily="18" charset="0"/>
                <a:cs typeface="Times New Roman" panose="02020603050405020304" pitchFamily="18" charset="0"/>
              </a:rPr>
              <a:t>REFERENCES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6241" y="1236169"/>
            <a:ext cx="11519517" cy="4770483"/>
          </a:xfrm>
        </p:spPr>
        <p:txBody>
          <a:bodyPr>
            <a:noAutofit/>
          </a:bodyPr>
          <a:lstStyle/>
          <a:p>
            <a:pPr algn="just">
              <a:lnSpc>
                <a:spcPct val="10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P. Covington, J. Adams, and E. </a:t>
            </a:r>
            <a:r>
              <a:rPr lang="en-IN" sz="2200" dirty="0" err="1">
                <a:effectLst/>
                <a:latin typeface="Times New Roman" panose="02020603050405020304" pitchFamily="18" charset="0"/>
                <a:ea typeface="Calibri" panose="020F0502020204030204" pitchFamily="34" charset="0"/>
                <a:cs typeface="Times New Roman" panose="02020603050405020304" pitchFamily="18" charset="0"/>
              </a:rPr>
              <a:t>Sargin</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‘‘Deep neural networks for YouTube recommendations,’’ in Proc. 10th ACM Conf. Recommender Syst., Sep. 2016, pp. 191–198, </a:t>
            </a:r>
            <a:r>
              <a:rPr lang="en-IN" sz="22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10.1145/2959100.2959190.</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M. M. Neumann and C. </a:t>
            </a:r>
            <a:r>
              <a:rPr lang="en-IN" sz="2200" dirty="0" err="1">
                <a:effectLst/>
                <a:latin typeface="Times New Roman" panose="02020603050405020304" pitchFamily="18" charset="0"/>
                <a:ea typeface="Calibri" panose="020F0502020204030204" pitchFamily="34" charset="0"/>
                <a:cs typeface="Times New Roman" panose="02020603050405020304" pitchFamily="18" charset="0"/>
              </a:rPr>
              <a:t>Herodotou</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‘‘Evaluating YouTube videos for young children,’’ Educ. Inf. Technol., vol. 25, no. 5, pp. 4459–4475, Sep. 2020, </a:t>
            </a:r>
            <a:r>
              <a:rPr lang="en-IN" sz="22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10.1007/s10639-020-10183-7. </a:t>
            </a:r>
            <a:endParaRPr lang="en-IN" sz="2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J. Marsh, L. Law, J. </a:t>
            </a:r>
            <a:r>
              <a:rPr lang="en-IN" sz="2200" dirty="0" err="1">
                <a:effectLst/>
                <a:latin typeface="Times New Roman" panose="02020603050405020304" pitchFamily="18" charset="0"/>
                <a:ea typeface="Calibri" panose="020F0502020204030204" pitchFamily="34" charset="0"/>
                <a:cs typeface="Times New Roman" panose="02020603050405020304" pitchFamily="18" charset="0"/>
              </a:rPr>
              <a:t>Lahmar</a:t>
            </a: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 D. Yamada-Rice, B. Parry, and F. Scott, Social Media, Television and Children. Sheffield, U.K.: Univ. Sheffield, 2019. [Online]. Available: https://www.stac-study.org/downloads/ STAC_Full_Report.pdf </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Aft>
                <a:spcPts val="800"/>
              </a:spcAft>
              <a:buFont typeface="Wingdings" panose="05000000000000000000" pitchFamily="2" charset="2"/>
              <a:buChar char="Ø"/>
            </a:pPr>
            <a:r>
              <a:rPr lang="en-IN" sz="2200" dirty="0">
                <a:effectLst/>
                <a:latin typeface="Times New Roman" panose="02020603050405020304" pitchFamily="18" charset="0"/>
                <a:ea typeface="Calibri" panose="020F0502020204030204" pitchFamily="34" charset="0"/>
              </a:rPr>
              <a:t>M. M. Neumann and C. </a:t>
            </a:r>
            <a:r>
              <a:rPr lang="en-IN" sz="2200" dirty="0" err="1">
                <a:effectLst/>
                <a:latin typeface="Times New Roman" panose="02020603050405020304" pitchFamily="18" charset="0"/>
                <a:ea typeface="Calibri" panose="020F0502020204030204" pitchFamily="34" charset="0"/>
              </a:rPr>
              <a:t>Herodotou</a:t>
            </a:r>
            <a:r>
              <a:rPr lang="en-IN" sz="2200" dirty="0">
                <a:effectLst/>
                <a:latin typeface="Times New Roman" panose="02020603050405020304" pitchFamily="18" charset="0"/>
                <a:ea typeface="Calibri" panose="020F0502020204030204" pitchFamily="34" charset="0"/>
              </a:rPr>
              <a:t>, ‘‘Young children and YouTube: A global phenomenon,’’ Childhood Educ., vol. 96, no. 4, pp. 72–77, </a:t>
            </a:r>
            <a:endParaRPr lang="en-US" sz="2200" dirty="0"/>
          </a:p>
        </p:txBody>
      </p:sp>
      <p:sp>
        <p:nvSpPr>
          <p:cNvPr id="5" name="TextBox 4"/>
          <p:cNvSpPr txBox="1"/>
          <p:nvPr/>
        </p:nvSpPr>
        <p:spPr>
          <a:xfrm>
            <a:off x="99133" y="6477523"/>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9850" y="2712760"/>
            <a:ext cx="7471299" cy="1432480"/>
          </a:xfrm>
        </p:spPr>
        <p:txBody>
          <a:bodyPr>
            <a:normAutofit/>
          </a:bodyPr>
          <a:lstStyle/>
          <a:p>
            <a:pPr marL="0" indent="0">
              <a:buNone/>
            </a:pPr>
            <a:r>
              <a:rPr lang="en-US" sz="9000" b="1" dirty="0">
                <a:latin typeface="Times New Roman" panose="02020603050405020304" pitchFamily="18" charset="0"/>
                <a:cs typeface="Times New Roman" panose="02020603050405020304" pitchFamily="18" charset="0"/>
              </a:rPr>
              <a:t>THANK YOU</a:t>
            </a:r>
            <a:endParaRPr lang="en-IN" sz="9000" dirty="0"/>
          </a:p>
        </p:txBody>
      </p:sp>
      <p:sp>
        <p:nvSpPr>
          <p:cNvPr id="7" name="TextBox 6"/>
          <p:cNvSpPr txBox="1"/>
          <p:nvPr/>
        </p:nvSpPr>
        <p:spPr>
          <a:xfrm>
            <a:off x="64363" y="6488668"/>
            <a:ext cx="609452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DEPARTMENT OF ECE, MRITS</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310425" y="0"/>
            <a:ext cx="881575" cy="89917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Major project ppt</Template>
  <TotalTime>0</TotalTime>
  <Words>6545</Words>
  <Application>WPS Presentation</Application>
  <PresentationFormat>Widescreen</PresentationFormat>
  <Paragraphs>198</Paragraphs>
  <Slides>24</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24</vt:i4>
      </vt:variant>
    </vt:vector>
  </HeadingPairs>
  <TitlesOfParts>
    <vt:vector size="37" baseType="lpstr">
      <vt:lpstr>Arial</vt:lpstr>
      <vt:lpstr>SimSun</vt:lpstr>
      <vt:lpstr>Wingdings</vt:lpstr>
      <vt:lpstr>Times New Roman</vt:lpstr>
      <vt:lpstr>Wingdings 2</vt:lpstr>
      <vt:lpstr>Wingdings</vt:lpstr>
      <vt:lpstr>Calibri</vt:lpstr>
      <vt:lpstr>Cambria</vt:lpstr>
      <vt:lpstr>Microsoft YaHei</vt:lpstr>
      <vt:lpstr>Arial Unicode MS</vt:lpstr>
      <vt:lpstr>Calibri Light</vt:lpstr>
      <vt:lpstr>Office Theme</vt:lpstr>
      <vt:lpstr>1_Office Theme</vt:lpstr>
      <vt:lpstr>PowerPoint 演示文稿</vt:lpstr>
      <vt:lpstr>CONTENTS </vt:lpstr>
      <vt:lpstr>ABSTRACT</vt:lpstr>
      <vt:lpstr>INTRODUCTION</vt:lpstr>
      <vt:lpstr>PowerPoint 演示文稿</vt:lpstr>
      <vt:lpstr> </vt:lpstr>
      <vt:lpstr>Existing Algorithm :SVM</vt:lpstr>
      <vt:lpstr>PROPOSED METHOD </vt:lpstr>
      <vt:lpstr>FLOW CHART OF PROPOSED SYSTEM</vt:lpstr>
      <vt:lpstr>RESULTS</vt:lpstr>
      <vt:lpstr>PowerPoint 演示文稿</vt:lpstr>
      <vt:lpstr>PowerPoint 演示文稿</vt:lpstr>
      <vt:lpstr>Bar Graph : Safe and Inappropriate images </vt:lpstr>
      <vt:lpstr>Bar Graph : Safe and Inappropriate images </vt:lpstr>
      <vt:lpstr>Bar Graph : Safe and Inappropriate images </vt:lpstr>
      <vt:lpstr>Performance analysis of Efficient Bi-LSTM and Efficient SVM algAorithms </vt:lpstr>
      <vt:lpstr>Inappropriate Content is detected</vt:lpstr>
      <vt:lpstr>Inappropriate Content is not detected (Safe Content )</vt:lpstr>
      <vt:lpstr>ADVANTAGES</vt:lpstr>
      <vt:lpstr>APPLICATIONS</vt:lpstr>
      <vt:lpstr>CONCLUSION</vt:lpstr>
      <vt:lpstr>FUTURESCOPE</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Rishab sakale</dc:creator>
  <cp:lastModifiedBy>bashe</cp:lastModifiedBy>
  <cp:revision>10</cp:revision>
  <dcterms:created xsi:type="dcterms:W3CDTF">2024-11-16T09:27:00Z</dcterms:created>
  <dcterms:modified xsi:type="dcterms:W3CDTF">2025-03-08T05:55:38Z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95D9A20E6C2E4898B476ABBF3C5DE1CE_12</vt:lpwstr>
  </property>
  <property fmtid="{D5CDD505-2E9C-101B-9397-08002B2CF9AE}" pid="3" name="KSOProductBuildVer">
    <vt:lpwstr>1033-12.2.0.20326</vt:lpwstr>
  </property>
</Properties>
</file>